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2698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by asking which model should power a chatbot. Preview the answer: a decoder (GPT or LLaMA-2), because generation is the core skill — and connect it to the FAQ bot built in AT1.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Distinguish retrieval vs generative and task-oriented vs open-domain bots. List the decision factors: fluency, accuracy, latency, cost, privacy, customisation.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each model in one breath: BERT understands, GPT generates, T5 converts text-to-text, LLaMA is the open, efficient generator. These four philosophies drive every difference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single most important slide. BERT is encoder-only (pure understanding). GPT and LLaMA are decoder-only (pure generation). T5 keeps both halves (transformation tasks). Point at each mini flow as you explain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one architectural fact per model. BERT: bidirectional, [CLS] for classification. GPT: causal attention, autoregressive. T5: encoder feeds decoder, text-to-text. LLaMA: GPT-style plus RoPE / SwiGLU / RMSNorm, and crucially open-weights.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message: an encoder trained to fill blanks (BERT) becomes a great understander; a decoder trained to predict the next word (GPT, LLaMA) becomes a great generator; T5's text-to-text objective makes it a flexible converter. Objective =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required comparison table. Walk down ONE column (say GPT) then across ONE row (say Best-at) so the audience learns to read it. Land the punchline at the bottom: there is no universal winner — it depends on the task, which the next slides 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Generation is the heart of a chatbot, so decoders lead: GPT and LLaMA are Best. T5 is Good for task-oriented/FAQ generation. BERT is Limited alone — it powers understanding/retrieval, not speech.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real choice as GPT (managed, top quality, but closed and per-token cost) vs LLaMA-2 (open, private, customisable, but you run the infrastructure). BERT and T5 are supporting players.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ChatGPT is the quality benchmark; LLaMA-2-Chat is the open alternative; the RAG hybrid (BERT retrieval + GPT/LLaMA generation) is what most real support bots use — tie back to the AT1 FAQ chatbot as the retrieval 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 GPT for the fastest path to top quality, or LLaMA-2-Chat when privacy, cost or customisation dominate. Use BERT for NLU/retrieval and T5 for structured FAQ answers inside a hybrid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claims trace to primary sources: the original papers for each model, the GLUE benchmark, and Hugging Face documentation. Mention that arXiv IDs let the evaluator verify every figure quoted.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by restating your one-line recommendation and invite questions. Keep the master table slide handy to jump back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80560"/>
            <a:ext cx="12192000" cy="23774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4B063"/>
                </a:solidFill>
                <a:latin typeface="Calibri"/>
              </a:rPr>
              <a:t>ASSESSMENT TOOL 2  · 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BERT vs GPT vs T5 vs LLaMA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for AI Chatbot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C7D0E6"/>
                </a:solidFill>
                <a:latin typeface="Calibri"/>
              </a:rPr>
              <a:t>Which model should power a conversational assistant?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4892040"/>
            <a:ext cx="566928" cy="5669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52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493776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BERT</a:t>
            </a:r>
          </a:p>
        </p:txBody>
      </p:sp>
      <p:sp>
        <p:nvSpPr>
          <p:cNvPr id="8" name="Oval 7"/>
          <p:cNvSpPr/>
          <p:nvPr/>
        </p:nvSpPr>
        <p:spPr>
          <a:xfrm>
            <a:off x="3154679" y="4892040"/>
            <a:ext cx="566928" cy="566928"/>
          </a:xfrm>
          <a:prstGeom prst="ellipse">
            <a:avLst/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52" b="1">
                <a:solidFill>
                  <a:srgbClr val="FFFFFF"/>
                </a:solidFill>
                <a:latin typeface="Cambria"/>
              </a:rPr>
              <a:t>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3048" y="493776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GPT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4892040"/>
            <a:ext cx="566928" cy="566928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52" b="1">
                <a:solidFill>
                  <a:srgbClr val="FFFFFF"/>
                </a:solidFill>
                <a:latin typeface="Cambria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4768" y="493776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T5</a:t>
            </a:r>
          </a:p>
        </p:txBody>
      </p:sp>
      <p:sp>
        <p:nvSpPr>
          <p:cNvPr id="12" name="Oval 11"/>
          <p:cNvSpPr/>
          <p:nvPr/>
        </p:nvSpPr>
        <p:spPr>
          <a:xfrm>
            <a:off x="7818120" y="4892040"/>
            <a:ext cx="566928" cy="566928"/>
          </a:xfrm>
          <a:prstGeom prst="ellipse">
            <a:avLst/>
          </a:prstGeom>
          <a:solidFill>
            <a:srgbClr val="6A4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52" b="1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493776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LLaMA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89320"/>
            <a:ext cx="105156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dirty="0">
                <a:solidFill>
                  <a:srgbClr val="9FB0D0"/>
                </a:solidFill>
                <a:latin typeface="Calibri"/>
              </a:rPr>
              <a:t>Course CSA65 – Generative AI and Large Language Models   |   Student: </a:t>
            </a:r>
            <a:r>
              <a:rPr lang="en-IN" sz="1150" dirty="0">
                <a:solidFill>
                  <a:srgbClr val="9FB0D0"/>
                </a:solidFill>
                <a:latin typeface="Calibri"/>
              </a:rPr>
              <a:t>G SAI TEJA</a:t>
            </a:r>
            <a:r>
              <a:rPr sz="1150" b="0" i="0" dirty="0">
                <a:solidFill>
                  <a:srgbClr val="9FB0D0"/>
                </a:solidFill>
                <a:latin typeface="Calibri"/>
              </a:rPr>
              <a:t>   </a:t>
            </a:r>
            <a:r>
              <a:rPr sz="1150" b="0" i="0" dirty="0" err="1">
                <a:solidFill>
                  <a:srgbClr val="9FB0D0"/>
                </a:solidFill>
                <a:latin typeface="Calibri"/>
              </a:rPr>
              <a:t>Reg.No</a:t>
            </a:r>
            <a:r>
              <a:rPr sz="1150" b="0" i="0" dirty="0">
                <a:solidFill>
                  <a:srgbClr val="9FB0D0"/>
                </a:solidFill>
                <a:latin typeface="Calibri"/>
              </a:rPr>
              <a:t>: </a:t>
            </a:r>
            <a:r>
              <a:rPr lang="en-IN" sz="1150" dirty="0">
                <a:solidFill>
                  <a:srgbClr val="9FB0D0"/>
                </a:solidFill>
                <a:latin typeface="Calibri"/>
              </a:rPr>
              <a:t>192472137</a:t>
            </a:r>
            <a:endParaRPr sz="1150" b="0" i="0" dirty="0">
              <a:solidFill>
                <a:srgbClr val="9FB0D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C74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333"/>
                </a:solidFill>
                <a:latin typeface="Cambria"/>
              </a:rPr>
              <a:t>AI chatbots — the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9C74"/>
                </a:solidFill>
                <a:latin typeface="Calibri"/>
              </a:rPr>
              <a:t>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54864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E07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333"/>
                </a:solidFill>
                <a:latin typeface="Calibri"/>
              </a:rPr>
              <a:t>A chatbot must understand the user AND produce a helpful reply.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E07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333"/>
                </a:solidFill>
                <a:latin typeface="Calibri"/>
              </a:rPr>
              <a:t>Two styles: retrieval-based (pick a stored answer) and generative (write a new answer).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E07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333"/>
                </a:solidFill>
                <a:latin typeface="Calibri"/>
              </a:rPr>
              <a:t>Also: task-oriented (bookings, FAQs) vs open-domain (free chat).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E07B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B2333"/>
                </a:solidFill>
                <a:latin typeface="Calibri"/>
              </a:rPr>
              <a:t>What matters: fluency, accuracy, latency, cost, privacy and customisation.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78308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0" y="20116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B2333"/>
                </a:solidFill>
                <a:latin typeface="Cambria"/>
              </a:rPr>
              <a:t>What this presentation covers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514600"/>
            <a:ext cx="44805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0E9C74"/>
                </a:solidFill>
                <a:latin typeface="Calibri"/>
              </a:rPr>
              <a:t>1.  </a:t>
            </a:r>
            <a:r>
              <a:rPr sz="1350" b="0" i="0">
                <a:solidFill>
                  <a:srgbClr val="1B2333"/>
                </a:solidFill>
                <a:latin typeface="Calibri"/>
              </a:rPr>
              <a:t>The four models at a glance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0E9C74"/>
                </a:solidFill>
                <a:latin typeface="Calibri"/>
              </a:rPr>
              <a:t>2.  </a:t>
            </a:r>
            <a:r>
              <a:rPr sz="1350" b="0" i="0">
                <a:solidFill>
                  <a:srgbClr val="1B2333"/>
                </a:solidFill>
                <a:latin typeface="Calibri"/>
              </a:rPr>
              <a:t>Architecture &amp; working principle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0E9C74"/>
                </a:solidFill>
                <a:latin typeface="Calibri"/>
              </a:rPr>
              <a:t>3.  </a:t>
            </a:r>
            <a:r>
              <a:rPr sz="1350" b="0" i="0">
                <a:solidFill>
                  <a:srgbClr val="1B2333"/>
                </a:solidFill>
                <a:latin typeface="Calibri"/>
              </a:rPr>
              <a:t>Pre-training objectives &amp; capabilities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0E9C74"/>
                </a:solidFill>
                <a:latin typeface="Calibri"/>
              </a:rPr>
              <a:t>4.  </a:t>
            </a:r>
            <a:r>
              <a:rPr sz="1350" b="0" i="0">
                <a:solidFill>
                  <a:srgbClr val="1B2333"/>
                </a:solidFill>
                <a:latin typeface="Calibri"/>
              </a:rPr>
              <a:t>Head-to-head comparison table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0E9C74"/>
                </a:solidFill>
                <a:latin typeface="Calibri"/>
              </a:rPr>
              <a:t>5.  </a:t>
            </a:r>
            <a:r>
              <a:rPr sz="1350" b="0" i="0">
                <a:solidFill>
                  <a:srgbClr val="1B2333"/>
                </a:solidFill>
                <a:latin typeface="Calibri"/>
              </a:rPr>
              <a:t>Mapping to chatbot development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0E9C74"/>
                </a:solidFill>
                <a:latin typeface="Calibri"/>
              </a:rPr>
              <a:t>6.  </a:t>
            </a:r>
            <a:r>
              <a:rPr sz="1350" b="0" i="0">
                <a:solidFill>
                  <a:srgbClr val="1B2333"/>
                </a:solidFill>
                <a:latin typeface="Calibri"/>
              </a:rPr>
              <a:t>Strengths, limitations &amp; case studies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0E9C74"/>
                </a:solidFill>
                <a:latin typeface="Calibri"/>
              </a:rPr>
              <a:t>7.  </a:t>
            </a:r>
            <a:r>
              <a:rPr sz="1350" b="0" i="0">
                <a:solidFill>
                  <a:srgbClr val="1B2333"/>
                </a:solidFill>
                <a:latin typeface="Calibri"/>
              </a:rPr>
              <a:t>Recommendation +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C74"/>
                </a:solidFill>
                <a:latin typeface="Calibri"/>
              </a:rPr>
              <a:t>THE CONTENDERS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333"/>
                </a:solidFill>
                <a:latin typeface="Cambria"/>
              </a:rPr>
              <a:t>Four Transformer models, four philosophies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" y="2075688"/>
            <a:ext cx="658368" cy="6583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311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3911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E7D32"/>
                </a:solidFill>
                <a:latin typeface="Cambria"/>
              </a:rPr>
              <a:t>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38658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Encoder-only   ·   Google  ·  2018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70632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Reads text bidirectionally to UNDERSTAND it. The classic encoder for classification, NER and extractive QA.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28232" y="2075688"/>
            <a:ext cx="658368" cy="658368"/>
          </a:xfrm>
          <a:prstGeom prst="ellipse">
            <a:avLst/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311" b="1">
                <a:solidFill>
                  <a:srgbClr val="FFFFFF"/>
                </a:solidFill>
                <a:latin typeface="Cambria"/>
              </a:rPr>
              <a:t>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03911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9C74"/>
                </a:solidFill>
                <a:latin typeface="Cambria"/>
              </a:rPr>
              <a:t>GPT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38658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Decoder-only   ·   OpenAI  ·  2018-2020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770632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Predicts the next word to GENERATE fluent text. Powers ChatGPT and excels at few-shot prompting.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96112" y="4087368"/>
            <a:ext cx="658368" cy="658368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311" b="1">
                <a:solidFill>
                  <a:srgbClr val="FFFFFF"/>
                </a:solidFill>
                <a:latin typeface="Cambria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05079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B1A"/>
                </a:solidFill>
                <a:latin typeface="Cambria"/>
              </a:rPr>
              <a:t>T5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39826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Encoder-Decoder   ·   Google  ·  2019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782312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Casts every task as text-to-text. A flexible encoder-decoder for translation, summarisation and QA.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79476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28232" y="4087368"/>
            <a:ext cx="658368" cy="658368"/>
          </a:xfrm>
          <a:prstGeom prst="ellipse">
            <a:avLst/>
          </a:prstGeom>
          <a:solidFill>
            <a:srgbClr val="6A4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311" b="1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05079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6A4CE0"/>
                </a:solidFill>
                <a:latin typeface="Cambria"/>
              </a:rPr>
              <a:t>LLaMA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39826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Decoder-only (open)   ·   Meta  ·  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4782312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333"/>
                </a:solidFill>
                <a:latin typeface="Calibri"/>
              </a:rPr>
              <a:t>An open-weights, efficient GPT-style model. Strong generation you can run privately and fine-tune cheaply.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C74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333"/>
                </a:solidFill>
                <a:latin typeface="Cambria"/>
              </a:rPr>
              <a:t>Three families of the Transformer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947672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Cambria"/>
              </a:rPr>
              <a:t>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1783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D32"/>
                </a:solidFill>
                <a:latin typeface="Cambria"/>
              </a:rPr>
              <a:t>Encoder-only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16712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BERT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801368"/>
            <a:ext cx="141732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0" y="1801368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Input text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641847" y="1984248"/>
            <a:ext cx="292608" cy="201168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89320" y="1801368"/>
            <a:ext cx="141732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89320" y="1801368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Encoder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424927" y="1984248"/>
            <a:ext cx="292608" cy="201168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72400" y="1801368"/>
            <a:ext cx="173736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1801368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44144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B6472"/>
                </a:solidFill>
                <a:latin typeface="Calibri"/>
              </a:rPr>
              <a:t>Understands the whole sentence at once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227832"/>
            <a:ext cx="457200" cy="457200"/>
          </a:xfrm>
          <a:prstGeom prst="ellipse">
            <a:avLst/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Cambria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3063239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9C74"/>
                </a:solidFill>
                <a:latin typeface="Cambria"/>
              </a:rPr>
              <a:t>Decoder-only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447287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GPT · LLaMA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081527"/>
            <a:ext cx="141732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0E9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0" y="3081527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Prompt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641847" y="3264408"/>
            <a:ext cx="292608" cy="201168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989320" y="3081527"/>
            <a:ext cx="141732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0E9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89320" y="3081527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Decoder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424927" y="3264408"/>
            <a:ext cx="292608" cy="201168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772400" y="3081527"/>
            <a:ext cx="173736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0E9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3081527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Next tokens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721607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B6472"/>
                </a:solidFill>
                <a:latin typeface="Calibri"/>
              </a:rPr>
              <a:t>Generates text left-to-right, one token at a time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4507992"/>
            <a:ext cx="457200" cy="457200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Cambria"/>
              </a:rPr>
              <a:t>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43434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07B1A"/>
                </a:solidFill>
                <a:latin typeface="Cambria"/>
              </a:rPr>
              <a:t>Encoder-Decoder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472744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T5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4361688"/>
            <a:ext cx="141732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06240" y="4361688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Input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641847" y="4544568"/>
            <a:ext cx="292608" cy="201168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989320" y="4361688"/>
            <a:ext cx="141732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89320" y="4361688"/>
            <a:ext cx="1417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Encoder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424927" y="4544568"/>
            <a:ext cx="292608" cy="201168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772400" y="4361688"/>
            <a:ext cx="1737360" cy="566928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0" y="4361688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Decoder →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500176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B6472"/>
                </a:solidFill>
                <a:latin typeface="Calibri"/>
              </a:rPr>
              <a:t>Reads input, then writes a transformed 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C74"/>
                </a:solidFill>
                <a:latin typeface="Calibri"/>
              </a:rPr>
              <a:t>ARCHITECTURE &amp; 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333"/>
                </a:solidFill>
                <a:latin typeface="Cambria"/>
              </a:rPr>
              <a:t>How each model is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" y="2039112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0574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7D32"/>
                </a:solidFill>
                <a:latin typeface="Cambria"/>
              </a:rPr>
              <a:t>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51760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Encoder-only Transformer stack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Bidirectional self-attention (sees both left &amp; right context)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2E7D32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Output = contextual token embeddings; the [CLS] token summarises the sentence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28232" y="2039112"/>
            <a:ext cx="548640" cy="548640"/>
          </a:xfrm>
          <a:prstGeom prst="ellipse">
            <a:avLst/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0574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9C74"/>
                </a:solidFill>
                <a:latin typeface="Cambria"/>
              </a:rPr>
              <a:t>GPT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651760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0E9C74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Decoder-only Transformer stack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0E9C74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Causal (masked) self-attention - each token attends only to previous tokens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0E9C74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Generates text one token at a time (autoregressive)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77639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6112" y="4233672"/>
            <a:ext cx="548640" cy="548640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251959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07B1A"/>
                </a:solidFill>
                <a:latin typeface="Cambria"/>
              </a:rPr>
              <a:t>T5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846320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E07B1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Encoder-Decoder Transformer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E07B1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Encoder reads the input; decoder generates the output conditioned on 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E07B1A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Everything is framed as text-in -&gt; text-out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77639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28232" y="4233672"/>
            <a:ext cx="548640" cy="548640"/>
          </a:xfrm>
          <a:prstGeom prst="ellipse">
            <a:avLst/>
          </a:prstGeom>
          <a:solidFill>
            <a:srgbClr val="6A4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251959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6A4CE0"/>
                </a:solidFill>
                <a:latin typeface="Cambria"/>
              </a:rPr>
              <a:t>LLaMA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4846320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6A4CE0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Decoder-only Transformer (GPT-style)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6A4CE0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Efficiency upgrades: RMSNorm, SwiGLU, Rotary Position Embeddings (RoPE)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6A4CE0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B2333"/>
                </a:solidFill>
                <a:latin typeface="Calibri"/>
              </a:rPr>
              <a:t>Open weights - runs on-premises and is easy to fine-tune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C74"/>
                </a:solidFill>
                <a:latin typeface="Calibri"/>
              </a:rPr>
              <a:t>PRE-TRAINING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333"/>
                </a:solidFill>
                <a:latin typeface="Cambria"/>
              </a:rPr>
              <a:t>The objective shapes the capability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881360" cy="987552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2002536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92938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D32"/>
                </a:solidFill>
                <a:latin typeface="Cambria"/>
              </a:rPr>
              <a:t>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295144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Masked Language Modeling (MLM)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65960"/>
            <a:ext cx="6720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Randomly mask ~15% of tokens and predict them from both sides; plus Next-Sentence Prediction.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10881360" cy="987552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3099815"/>
            <a:ext cx="548640" cy="548640"/>
          </a:xfrm>
          <a:prstGeom prst="ellipse">
            <a:avLst/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2666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9C74"/>
                </a:solidFill>
                <a:latin typeface="Cambria"/>
              </a:rPr>
              <a:t>GPT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392424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Causal Language Modeling (CLM)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63240"/>
            <a:ext cx="6720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Predict the next token given all previous tokens - pure left-to-right generation.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10881360" cy="987552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8680" y="4197096"/>
            <a:ext cx="548640" cy="548640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12394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07B1A"/>
                </a:solidFill>
                <a:latin typeface="Cambria"/>
              </a:rPr>
              <a:t>T5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89704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Span-corruption (denoising)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60520"/>
            <a:ext cx="6720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Mask contiguous spans and generate the missing text; a single text-to-text objective for every task.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74920"/>
            <a:ext cx="10881360" cy="987552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5294376"/>
            <a:ext cx="548640" cy="548640"/>
          </a:xfrm>
          <a:prstGeom prst="ellipse">
            <a:avLst/>
          </a:prstGeom>
          <a:solidFill>
            <a:srgbClr val="6A4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22122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6A4CE0"/>
                </a:solidFill>
                <a:latin typeface="Cambria"/>
              </a:rPr>
              <a:t>LLaMA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586983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2333"/>
                </a:solidFill>
                <a:latin typeface="Calibri"/>
              </a:rPr>
              <a:t>Causal Language Modeling (CLM)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257800"/>
            <a:ext cx="6720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Next-token prediction on trillions of public tokens, compute-optimal; chat via fine-tuning (LLaMA-2-Chat, RLHF).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C74"/>
                </a:solidFill>
                <a:latin typeface="Calibri"/>
              </a:rPr>
              <a:t>HEAD-TO-HEAD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333"/>
                </a:solidFill>
                <a:latin typeface="Cambria"/>
              </a:rPr>
              <a:t>Master comparison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74519"/>
          <a:ext cx="10881360" cy="396849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73152" marR="54864" marT="18288" marB="18288" anchor="ctr">
                    <a:solidFill>
                      <a:srgbClr val="14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BERT</a:t>
                      </a:r>
                    </a:p>
                  </a:txBody>
                  <a:tcPr marL="73152" marR="54864" marT="18288" marB="18288" anchor="ctr">
                    <a:solidFill>
                      <a:srgbClr val="14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GPT (3/4)</a:t>
                      </a:r>
                    </a:p>
                  </a:txBody>
                  <a:tcPr marL="73152" marR="54864" marT="18288" marB="18288" anchor="ctr">
                    <a:solidFill>
                      <a:srgbClr val="14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T5</a:t>
                      </a:r>
                    </a:p>
                  </a:txBody>
                  <a:tcPr marL="73152" marR="54864" marT="18288" marB="18288" anchor="ctr">
                    <a:solidFill>
                      <a:srgbClr val="14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LLaMA (2)</a:t>
                      </a:r>
                    </a:p>
                  </a:txBody>
                  <a:tcPr marL="73152" marR="54864" marT="18288" marB="18288" anchor="ctr">
                    <a:solidFill>
                      <a:srgbClr val="141B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Encoder-only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Decoder-only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Encoder-Decoder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Decoder-only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Attention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Bidirectional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Causal (L→R)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Bi (enc)+Causal (dec)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Causal (L→R)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Pre-training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MLM + NSP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Causal LM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Span corruption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Causal LM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Typical size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110-340 M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175 B (GPT-3)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60 M-11 B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7-70 B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Best at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Understanding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Generation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Seq-to-seq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Efficient gen.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Openness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Closed (API)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2333"/>
                          </a:solidFill>
                          <a:latin typeface="Calibri"/>
                        </a:rPr>
                        <a:t>Open weights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B6472"/>
                </a:solidFill>
                <a:latin typeface="Calibri"/>
              </a:rPr>
              <a:t>One objective view: no single model wins everything — the right choice depends on the task.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C74"/>
                </a:solidFill>
                <a:latin typeface="Calibri"/>
              </a:rPr>
              <a:t>APPLICATION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333"/>
                </a:solidFill>
                <a:latin typeface="Cambria"/>
              </a:rPr>
              <a:t>Each model's role in a chatbot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" y="2039112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0574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7D32"/>
                </a:solidFill>
                <a:latin typeface="Cambria"/>
              </a:rPr>
              <a:t>BERT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057400"/>
            <a:ext cx="1097280" cy="402336"/>
          </a:xfrm>
          <a:prstGeom prst="roundRect">
            <a:avLst>
              <a:gd name="adj" fmla="val 6000"/>
            </a:avLst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2057400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Limited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51760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Not generative. Best as the NLU layer — intent detection and retrieval ranking — or to embed documents for a RAG pipeline. It understands, it doesn't speak.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B6472"/>
                </a:solidFill>
                <a:latin typeface="Calibri"/>
              </a:rPr>
              <a:t>Generation is the core skill of a chatbot — so decoder models lead, with encoders supporting understanding.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28232" y="2039112"/>
            <a:ext cx="548640" cy="548640"/>
          </a:xfrm>
          <a:prstGeom prst="ellipse">
            <a:avLst/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0574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9C74"/>
                </a:solidFill>
                <a:latin typeface="Cambria"/>
              </a:rPr>
              <a:t>GPT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0" y="2057400"/>
            <a:ext cx="1097280" cy="402336"/>
          </a:xfrm>
          <a:prstGeom prst="roundRect">
            <a:avLst>
              <a:gd name="adj" fmla="val 6000"/>
            </a:avLst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149840" y="2057400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Best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651760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Fluent, instruction-following generation (ChatGPT). Ideal for open-domain, high-quality assistants via a managed API with minimal setup.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B6472"/>
                </a:solidFill>
                <a:latin typeface="Calibri"/>
              </a:rPr>
              <a:t>Generation is the core skill of a chatbot — so decoder models lead, with encoders supporting understanding.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77639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96112" y="4233672"/>
            <a:ext cx="548640" cy="548640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251959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07B1A"/>
                </a:solidFill>
                <a:latin typeface="Cambria"/>
              </a:rPr>
              <a:t>T5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251959"/>
            <a:ext cx="1097280" cy="402336"/>
          </a:xfrm>
          <a:prstGeom prst="roundRect">
            <a:avLst>
              <a:gd name="adj" fmla="val 6000"/>
            </a:avLst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4251959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Good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846320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Text-to-text suits task-oriented and FAQ-style bots that map a query to a structured answer; needs fine-tuning and is less fluent for open chat.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B6472"/>
                </a:solidFill>
                <a:latin typeface="Calibri"/>
              </a:rPr>
              <a:t>Generation is the core skill of a chatbot — so decoder models lead, with encoders supporting understanding.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977639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28232" y="4233672"/>
            <a:ext cx="548640" cy="548640"/>
          </a:xfrm>
          <a:prstGeom prst="ellipse">
            <a:avLst/>
          </a:prstGeom>
          <a:solidFill>
            <a:srgbClr val="6A4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60" b="1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251959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6A4CE0"/>
                </a:solidFill>
                <a:latin typeface="Cambria"/>
              </a:rPr>
              <a:t>LLaMA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4251959"/>
            <a:ext cx="1097280" cy="402336"/>
          </a:xfrm>
          <a:prstGeom prst="roundRect">
            <a:avLst>
              <a:gd name="adj" fmla="val 6000"/>
            </a:avLst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49840" y="4251959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Best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4846320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Open-weights generation. LLaMA-2-Chat (RLHF) rivals GPT-3.5 and can run privately — ideal when data control, cost or customisation matter.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B6472"/>
                </a:solidFill>
                <a:latin typeface="Calibri"/>
              </a:rPr>
              <a:t>Generation is the core skill of a chatbot — so decoder models lead, with encoders supporting understanding.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C74"/>
                </a:solidFill>
                <a:latin typeface="Calibri"/>
              </a:rPr>
              <a:t>STRENGTHS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333"/>
                </a:solidFill>
                <a:latin typeface="Cambria"/>
              </a:rPr>
              <a:t>For chatbot development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74519"/>
          <a:ext cx="10881360" cy="4343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54864" marT="18288" marB="18288" anchor="ctr">
                    <a:solidFill>
                      <a:srgbClr val="14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Strengths for this task</a:t>
                      </a:r>
                    </a:p>
                  </a:txBody>
                  <a:tcPr marL="73152" marR="54864" marT="18288" marB="18288" anchor="ctr">
                    <a:solidFill>
                      <a:srgbClr val="141B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Limitations for this task</a:t>
                      </a:r>
                    </a:p>
                  </a:txBody>
                  <a:tcPr marL="73152" marR="54864" marT="18288" marB="18288" anchor="ctr">
                    <a:solidFill>
                      <a:srgbClr val="141B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BERT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Calibri"/>
                        </a:rPr>
                        <a:t>Excellent intent/NLU &amp; retrieval embeddings; small and fast.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Calibri"/>
                        </a:rPr>
                        <a:t>Cannot generate replies; only half of a chatbot.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9C74"/>
                          </a:solidFill>
                          <a:latin typeface="Calibri"/>
                        </a:rPr>
                        <a:t>GPT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Calibri"/>
                        </a:rPr>
                        <a:t>Best-in-class fluency; instruction-following; little setup.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Calibri"/>
                        </a:rPr>
                        <a:t>Closed API; per-token cost; data leaves your servers.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07B1A"/>
                          </a:solidFill>
                          <a:latin typeface="Calibri"/>
                        </a:rPr>
                        <a:t>T5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Calibri"/>
                        </a:rPr>
                        <a:t>Good for structured task-oriented / FAQ answer generation.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Calibri"/>
                        </a:rPr>
                        <a:t>Needs fine-tuning; weaker open-domain fluency than big decoders.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6A4CE0"/>
                          </a:solidFill>
                          <a:latin typeface="Calibri"/>
                        </a:rPr>
                        <a:t>LLaMA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Calibri"/>
                        </a:rPr>
                        <a:t>Open, private, customisable; LLaMA-2-Chat near GPT-3.5.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2333"/>
                          </a:solidFill>
                          <a:latin typeface="Calibri"/>
                        </a:rPr>
                        <a:t>Needs GPU &amp; MLOps; you own safety/alignment tuning.</a:t>
                      </a:r>
                    </a:p>
                  </a:txBody>
                  <a:tcPr marL="73152" marR="54864" marT="18288" marB="18288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C74"/>
                </a:solidFill>
                <a:latin typeface="Calibri"/>
              </a:rPr>
              <a:t>REAL-WORLD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333"/>
                </a:solidFill>
                <a:latin typeface="Cambria"/>
              </a:rPr>
              <a:t>Chatbots in the real world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881360" cy="1078992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" y="2039112"/>
            <a:ext cx="566928" cy="566928"/>
          </a:xfrm>
          <a:prstGeom prst="ellipse">
            <a:avLst/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52" b="1">
                <a:solidFill>
                  <a:srgbClr val="FFFFFF"/>
                </a:solidFill>
                <a:latin typeface="Cambria"/>
              </a:rPr>
              <a:t>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929384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333"/>
                </a:solidFill>
                <a:latin typeface="Cambria"/>
              </a:rPr>
              <a:t>ChatGPT — the generative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31343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OpenAI's GPT-3.5/4 set the standard for open-domain conversational assistants and instruction following.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10881360" cy="1078992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6112" y="3273552"/>
            <a:ext cx="566928" cy="566928"/>
          </a:xfrm>
          <a:prstGeom prst="ellipse">
            <a:avLst/>
          </a:prstGeom>
          <a:solidFill>
            <a:srgbClr val="6A4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52" b="1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63824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333"/>
                </a:solidFill>
                <a:latin typeface="Cambria"/>
              </a:rPr>
              <a:t>Meta LLaMA-2-Chat — open &amp; private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54787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RLHF-tuned open-weights chat model; enterprises deploy it on-premises for privacy, cost control and domain customisation.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0"/>
            <a:ext cx="10881360" cy="1078992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12700">
            <a:solidFill>
              <a:srgbClr val="D8DEEA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6112" y="4507992"/>
            <a:ext cx="566928" cy="5669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52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398264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2333"/>
                </a:solidFill>
                <a:latin typeface="Cambria"/>
              </a:rPr>
              <a:t>RAG support bot (hybrid)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78231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B2333"/>
                </a:solidFill>
                <a:latin typeface="Calibri"/>
              </a:rPr>
              <a:t>Retrieval with BERT-style embeddings + generation with GPT/LLaMA grounds answers in company docs — the pattern behind modern FAQ/support bots.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4B063"/>
                </a:solidFill>
                <a:latin typeface="Calibri"/>
              </a:rPr>
              <a:t>CONCLUSION &amp;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Recommendation: GPT or LLaMA-2-Chat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5120640" cy="3200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31750">
            <a:solidFill>
              <a:srgbClr val="0E9C74"/>
            </a:solidFill>
          </a:ln>
          <a:effectLst>
            <a:outerShdw blurRad="90000" dist="28000" dir="5400000" rotWithShape="0">
              <a:srgbClr val="9AA6BC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2286000"/>
            <a:ext cx="868680" cy="868680"/>
          </a:xfrm>
          <a:prstGeom prst="ellipse">
            <a:avLst/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370" b="1">
                <a:solidFill>
                  <a:srgbClr val="FFFFFF"/>
                </a:solidFill>
                <a:latin typeface="Cambria"/>
              </a:rPr>
              <a:t>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33172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4B063"/>
                </a:solidFill>
                <a:latin typeface="Calibri"/>
              </a:rPr>
              <a:t>RECOMMENDED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65176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GPT / LLaMA-2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29000"/>
            <a:ext cx="44805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E9C74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DCE4F5"/>
                </a:solidFill>
                <a:latin typeface="Calibri"/>
              </a:rPr>
              <a:t>Generation is a chatbot's core skill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E9C74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DCE4F5"/>
                </a:solidFill>
                <a:latin typeface="Calibri"/>
              </a:rPr>
              <a:t>Decoder models are the most fluent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E9C74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DCE4F5"/>
                </a:solidFill>
                <a:latin typeface="Calibri"/>
              </a:rPr>
              <a:t>GPT = fastest top quality (API)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E9C74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DCE4F5"/>
                </a:solidFill>
                <a:latin typeface="Calibri"/>
              </a:rPr>
              <a:t>LLaMA-2 = open, private, customisable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0116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Why — and when to use the others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468880"/>
            <a:ext cx="54864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E4B063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BERT: </a:t>
            </a:r>
            <a:r>
              <a:rPr sz="1250" b="0" i="0">
                <a:solidFill>
                  <a:srgbClr val="C7D0E6"/>
                </a:solidFill>
                <a:latin typeface="Calibri"/>
              </a:rPr>
              <a:t>for the intent/NLU layer or as the retriever in a RAG chatbot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E4B063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T5: </a:t>
            </a:r>
            <a:r>
              <a:rPr sz="1250" b="0" i="0">
                <a:solidFill>
                  <a:srgbClr val="C7D0E6"/>
                </a:solidFill>
                <a:latin typeface="Calibri"/>
              </a:rPr>
              <a:t>for task-oriented or FAQ bots that map queries to structured answers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E4B063"/>
                </a:solidFill>
                <a:latin typeface="Calibri"/>
              </a:rPr>
              <a:t>• 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Hybrid: </a:t>
            </a:r>
            <a:r>
              <a:rPr sz="1250" b="0" i="0">
                <a:solidFill>
                  <a:srgbClr val="C7D0E6"/>
                </a:solidFill>
                <a:latin typeface="Calibri"/>
              </a:rPr>
              <a:t>BERT retrieval + GPT/LLaMA generation = an accurate, grounded RAG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9C74"/>
                </a:solidFill>
                <a:latin typeface="Calibri"/>
              </a:rPr>
              <a:t>REFERENCES &amp;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696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333"/>
                </a:solidFill>
                <a:latin typeface="Cambria"/>
              </a:rPr>
              <a:t>Credible papers, benchmarks &amp;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E9C74"/>
                </a:solidFill>
                <a:latin typeface="Calibri"/>
              </a:rPr>
              <a:t>[1]  </a:t>
            </a:r>
            <a:r>
              <a:rPr sz="1250" b="0" i="0">
                <a:solidFill>
                  <a:srgbClr val="1B2333"/>
                </a:solidFill>
                <a:latin typeface="Calibri"/>
              </a:rPr>
              <a:t>Vaswani et al. (2017). Attention Is All You Need. NeurIPS. arXiv:1706.03762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E9C74"/>
                </a:solidFill>
                <a:latin typeface="Calibri"/>
              </a:rPr>
              <a:t>[2]  </a:t>
            </a:r>
            <a:r>
              <a:rPr sz="1250" b="0" i="0">
                <a:solidFill>
                  <a:srgbClr val="1B2333"/>
                </a:solidFill>
                <a:latin typeface="Calibri"/>
              </a:rPr>
              <a:t>Devlin et al. (2019). BERT: Pre-training of Deep Bidirectional Transformers. NAACL. arXiv:1810.04805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E9C74"/>
                </a:solidFill>
                <a:latin typeface="Calibri"/>
              </a:rPr>
              <a:t>[3]  </a:t>
            </a:r>
            <a:r>
              <a:rPr sz="1250" b="0" i="0">
                <a:solidFill>
                  <a:srgbClr val="1B2333"/>
                </a:solidFill>
                <a:latin typeface="Calibri"/>
              </a:rPr>
              <a:t>Radford et al. (2019) GPT-2; Brown et al. (2020). Language Models are Few-Shot Learners (GPT-3). arXiv:2005.14165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E9C74"/>
                </a:solidFill>
                <a:latin typeface="Calibri"/>
              </a:rPr>
              <a:t>[4]  </a:t>
            </a:r>
            <a:r>
              <a:rPr sz="1250" b="0" i="0">
                <a:solidFill>
                  <a:srgbClr val="1B2333"/>
                </a:solidFill>
                <a:latin typeface="Calibri"/>
              </a:rPr>
              <a:t>Raffel et al. (2020). Exploring the Limits of Transfer Learning with a Unified Text-to-Text Transformer (T5). JMLR. arXiv:1910.10683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E9C74"/>
                </a:solidFill>
                <a:latin typeface="Calibri"/>
              </a:rPr>
              <a:t>[5]  </a:t>
            </a:r>
            <a:r>
              <a:rPr sz="1250" b="0" i="0">
                <a:solidFill>
                  <a:srgbClr val="1B2333"/>
                </a:solidFill>
                <a:latin typeface="Calibri"/>
              </a:rPr>
              <a:t>Touvron et al. (2023). LLaMA: Open and Efficient Foundation LMs. arXiv:2302.13971; LLaMA 2. arXiv:2307.09288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E9C74"/>
                </a:solidFill>
                <a:latin typeface="Calibri"/>
              </a:rPr>
              <a:t>[6]  </a:t>
            </a:r>
            <a:r>
              <a:rPr sz="1250" b="0" i="0">
                <a:solidFill>
                  <a:srgbClr val="1B2333"/>
                </a:solidFill>
                <a:latin typeface="Calibri"/>
              </a:rPr>
              <a:t>Wang et al. (2019). GLUE Benchmark. ICLR. arXiv:1804.07461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E9C74"/>
                </a:solidFill>
                <a:latin typeface="Calibri"/>
              </a:rPr>
              <a:t>[7]  </a:t>
            </a:r>
            <a:r>
              <a:rPr sz="1250" b="0" i="0">
                <a:solidFill>
                  <a:srgbClr val="1B2333"/>
                </a:solidFill>
                <a:latin typeface="Calibri"/>
              </a:rPr>
              <a:t>Hugging Face Transformers documentation - huggingface.co/docs/transformers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CSA65 · Generative AI &amp; LLMs · CO4 – AT2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739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C7D0E6"/>
                </a:solidFill>
                <a:latin typeface="Calibri"/>
              </a:rPr>
              <a:t>A chatbot must speak — pick a decoder: GPT for managed quality, LLaMA-2 for open control.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5" name="Oval 4"/>
          <p:cNvSpPr/>
          <p:nvPr/>
        </p:nvSpPr>
        <p:spPr>
          <a:xfrm>
            <a:off x="1243584" y="4572000"/>
            <a:ext cx="457200" cy="457200"/>
          </a:xfrm>
          <a:prstGeom prst="ellipse">
            <a:avLst/>
          </a:prstGeom>
          <a:solidFill>
            <a:srgbClr val="0E9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Cambria"/>
              </a:rPr>
              <a:t>G</a:t>
            </a:r>
          </a:p>
        </p:txBody>
      </p:sp>
      <p:sp>
        <p:nvSpPr>
          <p:cNvPr id="6" name="Oval 5"/>
          <p:cNvSpPr/>
          <p:nvPr/>
        </p:nvSpPr>
        <p:spPr>
          <a:xfrm>
            <a:off x="1847088" y="4572000"/>
            <a:ext cx="457200" cy="457200"/>
          </a:xfrm>
          <a:prstGeom prst="ellipse">
            <a:avLst/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Cambria"/>
              </a:rPr>
              <a:t>T</a:t>
            </a:r>
          </a:p>
        </p:txBody>
      </p:sp>
      <p:sp>
        <p:nvSpPr>
          <p:cNvPr id="7" name="Oval 6"/>
          <p:cNvSpPr/>
          <p:nvPr/>
        </p:nvSpPr>
        <p:spPr>
          <a:xfrm>
            <a:off x="2450592" y="4572000"/>
            <a:ext cx="457200" cy="457200"/>
          </a:xfrm>
          <a:prstGeom prst="ellipse">
            <a:avLst/>
          </a:prstGeom>
          <a:solidFill>
            <a:srgbClr val="6A4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FB0D0"/>
                </a:solidFill>
                <a:latin typeface="Calibri"/>
              </a:rPr>
              <a:t>Questions &amp; Discussion  ·  CSA65 – Generative AI and Large Language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1989</Words>
  <Application>Microsoft Office PowerPoint</Application>
  <PresentationFormat>Widescreen</PresentationFormat>
  <Paragraphs>261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ODD LIB</cp:lastModifiedBy>
  <cp:revision>2</cp:revision>
  <dcterms:created xsi:type="dcterms:W3CDTF">2013-01-27T09:14:16Z</dcterms:created>
  <dcterms:modified xsi:type="dcterms:W3CDTF">2026-08-22T08:03:17Z</dcterms:modified>
  <cp:category/>
</cp:coreProperties>
</file>